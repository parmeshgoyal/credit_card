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7" r:id="rId3"/>
    <p:sldId id="278" r:id="rId4"/>
    <p:sldId id="279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96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07BD0D-ADBA-42D2-8245-8D1D6DAD882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EDF41A5-918E-4E6D-B2F6-3351D31A34A5}">
      <dgm:prSet custT="1"/>
      <dgm:spPr/>
      <dgm:t>
        <a:bodyPr/>
        <a:lstStyle/>
        <a:p>
          <a:pPr algn="ctr"/>
          <a:r>
            <a:rPr lang="en-US" sz="4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PYTHON</a:t>
          </a:r>
          <a:r>
            <a:rPr lang="en-US" sz="4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POWERED:</a:t>
          </a:r>
        </a:p>
        <a:p>
          <a:pPr algn="ctr"/>
          <a:r>
            <a:rPr lang="en-US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CREDIT CARD FRAUD </a:t>
          </a:r>
        </a:p>
        <a:p>
          <a:pPr algn="ctr"/>
          <a:r>
            <a:rPr lang="en-US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DETECTION</a:t>
          </a:r>
        </a:p>
      </dgm:t>
    </dgm:pt>
    <dgm:pt modelId="{BE269417-320E-4AF4-8476-BDDABFE471CB}" type="parTrans" cxnId="{A8FD6EEB-5FDA-4B39-90D7-9D12FA64EDF3}">
      <dgm:prSet/>
      <dgm:spPr/>
      <dgm:t>
        <a:bodyPr/>
        <a:lstStyle/>
        <a:p>
          <a:endParaRPr lang="en-US"/>
        </a:p>
      </dgm:t>
    </dgm:pt>
    <dgm:pt modelId="{4DB54C35-4437-40AE-8526-C39D530EADB4}" type="sibTrans" cxnId="{A8FD6EEB-5FDA-4B39-90D7-9D12FA64EDF3}">
      <dgm:prSet/>
      <dgm:spPr/>
      <dgm:t>
        <a:bodyPr/>
        <a:lstStyle/>
        <a:p>
          <a:endParaRPr lang="en-US"/>
        </a:p>
      </dgm:t>
    </dgm:pt>
    <dgm:pt modelId="{F8F9F5D5-7EE5-4C46-9297-92066EE59AAA}" type="pres">
      <dgm:prSet presAssocID="{D807BD0D-ADBA-42D2-8245-8D1D6DAD882D}" presName="vert0" presStyleCnt="0">
        <dgm:presLayoutVars>
          <dgm:dir/>
          <dgm:animOne val="branch"/>
          <dgm:animLvl val="lvl"/>
        </dgm:presLayoutVars>
      </dgm:prSet>
      <dgm:spPr/>
    </dgm:pt>
    <dgm:pt modelId="{3CCC2C0C-F0CE-4F78-B766-E6014F45FA60}" type="pres">
      <dgm:prSet presAssocID="{DEDF41A5-918E-4E6D-B2F6-3351D31A34A5}" presName="thickLine" presStyleLbl="alignNode1" presStyleIdx="0" presStyleCnt="1"/>
      <dgm:spPr/>
    </dgm:pt>
    <dgm:pt modelId="{54AEAE3C-D137-4675-8898-0FC93060E128}" type="pres">
      <dgm:prSet presAssocID="{DEDF41A5-918E-4E6D-B2F6-3351D31A34A5}" presName="horz1" presStyleCnt="0"/>
      <dgm:spPr/>
    </dgm:pt>
    <dgm:pt modelId="{B31D742D-EA88-4809-BA52-4B5115514729}" type="pres">
      <dgm:prSet presAssocID="{DEDF41A5-918E-4E6D-B2F6-3351D31A34A5}" presName="tx1" presStyleLbl="revTx" presStyleIdx="0" presStyleCnt="1" custScaleY="66949"/>
      <dgm:spPr/>
    </dgm:pt>
    <dgm:pt modelId="{F9D56CA8-4167-48F6-ACE7-F63864D04C86}" type="pres">
      <dgm:prSet presAssocID="{DEDF41A5-918E-4E6D-B2F6-3351D31A34A5}" presName="vert1" presStyleCnt="0"/>
      <dgm:spPr/>
    </dgm:pt>
  </dgm:ptLst>
  <dgm:cxnLst>
    <dgm:cxn modelId="{AD2EEB71-7BC1-4B5F-BE79-62E4E94EAC7A}" type="presOf" srcId="{DEDF41A5-918E-4E6D-B2F6-3351D31A34A5}" destId="{B31D742D-EA88-4809-BA52-4B5115514729}" srcOrd="0" destOrd="0" presId="urn:microsoft.com/office/officeart/2008/layout/LinedList"/>
    <dgm:cxn modelId="{BA73F7AE-9972-4E86-860B-AD21D43AAC8C}" type="presOf" srcId="{D807BD0D-ADBA-42D2-8245-8D1D6DAD882D}" destId="{F8F9F5D5-7EE5-4C46-9297-92066EE59AAA}" srcOrd="0" destOrd="0" presId="urn:microsoft.com/office/officeart/2008/layout/LinedList"/>
    <dgm:cxn modelId="{A8FD6EEB-5FDA-4B39-90D7-9D12FA64EDF3}" srcId="{D807BD0D-ADBA-42D2-8245-8D1D6DAD882D}" destId="{DEDF41A5-918E-4E6D-B2F6-3351D31A34A5}" srcOrd="0" destOrd="0" parTransId="{BE269417-320E-4AF4-8476-BDDABFE471CB}" sibTransId="{4DB54C35-4437-40AE-8526-C39D530EADB4}"/>
    <dgm:cxn modelId="{94A3E03B-983C-4FB2-B9A2-D9E300E992AF}" type="presParOf" srcId="{F8F9F5D5-7EE5-4C46-9297-92066EE59AAA}" destId="{3CCC2C0C-F0CE-4F78-B766-E6014F45FA60}" srcOrd="0" destOrd="0" presId="urn:microsoft.com/office/officeart/2008/layout/LinedList"/>
    <dgm:cxn modelId="{DAD6170F-F82F-4AD1-A052-467C9793E599}" type="presParOf" srcId="{F8F9F5D5-7EE5-4C46-9297-92066EE59AAA}" destId="{54AEAE3C-D137-4675-8898-0FC93060E128}" srcOrd="1" destOrd="0" presId="urn:microsoft.com/office/officeart/2008/layout/LinedList"/>
    <dgm:cxn modelId="{D663EB30-9B66-4FE0-9F77-250F1E7A89B1}" type="presParOf" srcId="{54AEAE3C-D137-4675-8898-0FC93060E128}" destId="{B31D742D-EA88-4809-BA52-4B5115514729}" srcOrd="0" destOrd="0" presId="urn:microsoft.com/office/officeart/2008/layout/LinedList"/>
    <dgm:cxn modelId="{C92A2E04-C89C-4ED5-9E71-FFF25249C6EC}" type="presParOf" srcId="{54AEAE3C-D137-4675-8898-0FC93060E128}" destId="{F9D56CA8-4167-48F6-ACE7-F63864D04C8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FC1AA7-ABC0-460C-936F-1AA9DE03BF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BCD238E-1341-4737-8EBD-2140BC8463C0}">
      <dgm:prSet/>
      <dgm:spPr/>
      <dgm:t>
        <a:bodyPr/>
        <a:lstStyle/>
        <a:p>
          <a:r>
            <a:rPr lang="en-IN"/>
            <a:t>TEAM MEMBER 1 NAME : PRIYESH SINGH                                       COLLAGE ID : E23CSEU0050</a:t>
          </a:r>
        </a:p>
      </dgm:t>
    </dgm:pt>
    <dgm:pt modelId="{E15B20CE-FA15-4D00-9145-B89C8097CDB0}" type="parTrans" cxnId="{67492F23-EBE3-49C0-AB4B-7600D65E04D5}">
      <dgm:prSet/>
      <dgm:spPr/>
      <dgm:t>
        <a:bodyPr/>
        <a:lstStyle/>
        <a:p>
          <a:endParaRPr lang="en-IN"/>
        </a:p>
      </dgm:t>
    </dgm:pt>
    <dgm:pt modelId="{92D09C5D-2AD6-477B-8402-6F24C7BD2DDA}" type="sibTrans" cxnId="{67492F23-EBE3-49C0-AB4B-7600D65E04D5}">
      <dgm:prSet/>
      <dgm:spPr/>
      <dgm:t>
        <a:bodyPr/>
        <a:lstStyle/>
        <a:p>
          <a:endParaRPr lang="en-IN"/>
        </a:p>
      </dgm:t>
    </dgm:pt>
    <dgm:pt modelId="{B1C658FD-DB42-40F8-BFEB-01CC991C85C8}">
      <dgm:prSet/>
      <dgm:spPr/>
      <dgm:t>
        <a:bodyPr/>
        <a:lstStyle/>
        <a:p>
          <a:r>
            <a:rPr lang="en-IN" dirty="0"/>
            <a:t>BRANCH : B-TECH CSE.                                                    WORK DISTRIBUTION : MAJOR CODING AND PPT DESIGNING </a:t>
          </a:r>
        </a:p>
      </dgm:t>
    </dgm:pt>
    <dgm:pt modelId="{6A556CBB-7DA7-4FF3-AAA1-E283010E0C75}" type="parTrans" cxnId="{60833E86-A436-4B37-926E-ECB5169CC7DD}">
      <dgm:prSet/>
      <dgm:spPr/>
      <dgm:t>
        <a:bodyPr/>
        <a:lstStyle/>
        <a:p>
          <a:endParaRPr lang="en-IN"/>
        </a:p>
      </dgm:t>
    </dgm:pt>
    <dgm:pt modelId="{13956B93-7AEC-4D00-B02D-703BAD69D41C}" type="sibTrans" cxnId="{60833E86-A436-4B37-926E-ECB5169CC7DD}">
      <dgm:prSet/>
      <dgm:spPr/>
      <dgm:t>
        <a:bodyPr/>
        <a:lstStyle/>
        <a:p>
          <a:endParaRPr lang="en-IN"/>
        </a:p>
      </dgm:t>
    </dgm:pt>
    <dgm:pt modelId="{69EC793C-7348-48CF-878B-2BC9F167B7DE}">
      <dgm:prSet/>
      <dgm:spPr/>
      <dgm:t>
        <a:bodyPr/>
        <a:lstStyle/>
        <a:p>
          <a:r>
            <a:rPr lang="en-IN" dirty="0"/>
            <a:t>TEAM MEMBER 2 NAME : HARSH VARDHAN CHAUHAN                COLLAGE ID : E23CSEU0041 </a:t>
          </a:r>
        </a:p>
      </dgm:t>
    </dgm:pt>
    <dgm:pt modelId="{342EAA79-894E-4C0A-8C84-3FD3D821D7BF}" type="parTrans" cxnId="{A1C46181-5801-4F2B-96E4-DEF1A6DB6825}">
      <dgm:prSet/>
      <dgm:spPr/>
      <dgm:t>
        <a:bodyPr/>
        <a:lstStyle/>
        <a:p>
          <a:endParaRPr lang="en-IN"/>
        </a:p>
      </dgm:t>
    </dgm:pt>
    <dgm:pt modelId="{8B8B6FBE-9049-4F38-94DC-E11F83471F74}" type="sibTrans" cxnId="{A1C46181-5801-4F2B-96E4-DEF1A6DB6825}">
      <dgm:prSet/>
      <dgm:spPr/>
      <dgm:t>
        <a:bodyPr/>
        <a:lstStyle/>
        <a:p>
          <a:endParaRPr lang="en-IN"/>
        </a:p>
      </dgm:t>
    </dgm:pt>
    <dgm:pt modelId="{BF20ABA4-9234-4EE2-999D-356343974AFC}">
      <dgm:prSet/>
      <dgm:spPr/>
      <dgm:t>
        <a:bodyPr/>
        <a:lstStyle/>
        <a:p>
          <a:r>
            <a:rPr lang="en-IN"/>
            <a:t>BRANCH : B-TECH CSE.                                                     WORK DISTRIBUTION :  PPT CREATION  AND SUBSET OF CODING</a:t>
          </a:r>
        </a:p>
      </dgm:t>
    </dgm:pt>
    <dgm:pt modelId="{CE70899B-1041-4C5C-932F-D0B8575C7F0A}" type="parTrans" cxnId="{5284EABC-7A4B-4A56-9070-76FC856EEA87}">
      <dgm:prSet/>
      <dgm:spPr/>
      <dgm:t>
        <a:bodyPr/>
        <a:lstStyle/>
        <a:p>
          <a:endParaRPr lang="en-IN"/>
        </a:p>
      </dgm:t>
    </dgm:pt>
    <dgm:pt modelId="{84A7021B-C0EB-4083-946D-80F88E76D120}" type="sibTrans" cxnId="{5284EABC-7A4B-4A56-9070-76FC856EEA87}">
      <dgm:prSet/>
      <dgm:spPr/>
      <dgm:t>
        <a:bodyPr/>
        <a:lstStyle/>
        <a:p>
          <a:endParaRPr lang="en-IN"/>
        </a:p>
      </dgm:t>
    </dgm:pt>
    <dgm:pt modelId="{EE44D405-56F9-46FE-ABCD-E02ABFB8D110}">
      <dgm:prSet/>
      <dgm:spPr/>
      <dgm:t>
        <a:bodyPr/>
        <a:lstStyle/>
        <a:p>
          <a:r>
            <a:rPr lang="en-IN" dirty="0"/>
            <a:t>TEAM MEMBER 3 NAME : PARMESH GOYAL                                    COLLAGE ID : E23CSEU0042</a:t>
          </a:r>
        </a:p>
      </dgm:t>
    </dgm:pt>
    <dgm:pt modelId="{92C563F8-A5F2-442B-B13E-002579BBA3AB}" type="parTrans" cxnId="{6DB93914-8C95-4BF2-B98C-167D7A7316D4}">
      <dgm:prSet/>
      <dgm:spPr/>
      <dgm:t>
        <a:bodyPr/>
        <a:lstStyle/>
        <a:p>
          <a:endParaRPr lang="en-IN"/>
        </a:p>
      </dgm:t>
    </dgm:pt>
    <dgm:pt modelId="{DCDF3B40-ABD7-40D1-9CCA-D0DB041A4134}" type="sibTrans" cxnId="{6DB93914-8C95-4BF2-B98C-167D7A7316D4}">
      <dgm:prSet/>
      <dgm:spPr/>
      <dgm:t>
        <a:bodyPr/>
        <a:lstStyle/>
        <a:p>
          <a:endParaRPr lang="en-IN"/>
        </a:p>
      </dgm:t>
    </dgm:pt>
    <dgm:pt modelId="{264E330B-34C9-4C6B-B8FC-750B75C53190}">
      <dgm:prSet/>
      <dgm:spPr/>
      <dgm:t>
        <a:bodyPr/>
        <a:lstStyle/>
        <a:p>
          <a:r>
            <a:rPr lang="en-IN"/>
            <a:t>BRANCH : B-TECH CSE.                                                      WORK DISTRIBUTION : CREATING SUBSETS OF THE  CODING AND FINDING DATASET  </a:t>
          </a:r>
        </a:p>
      </dgm:t>
    </dgm:pt>
    <dgm:pt modelId="{5CF447DD-32BF-42B5-B55C-17BAA4CC457B}" type="parTrans" cxnId="{B54A42C6-0E94-493B-A8C6-CE13FCB7AC85}">
      <dgm:prSet/>
      <dgm:spPr/>
      <dgm:t>
        <a:bodyPr/>
        <a:lstStyle/>
        <a:p>
          <a:endParaRPr lang="en-IN"/>
        </a:p>
      </dgm:t>
    </dgm:pt>
    <dgm:pt modelId="{2959BF76-640F-4C22-AFFB-8345A1CB5421}" type="sibTrans" cxnId="{B54A42C6-0E94-493B-A8C6-CE13FCB7AC85}">
      <dgm:prSet/>
      <dgm:spPr/>
      <dgm:t>
        <a:bodyPr/>
        <a:lstStyle/>
        <a:p>
          <a:endParaRPr lang="en-IN"/>
        </a:p>
      </dgm:t>
    </dgm:pt>
    <dgm:pt modelId="{688F0B61-04B8-4103-A8DF-963BA8A05091}" type="pres">
      <dgm:prSet presAssocID="{2FFC1AA7-ABC0-460C-936F-1AA9DE03BF2F}" presName="linear" presStyleCnt="0">
        <dgm:presLayoutVars>
          <dgm:animLvl val="lvl"/>
          <dgm:resizeHandles val="exact"/>
        </dgm:presLayoutVars>
      </dgm:prSet>
      <dgm:spPr/>
    </dgm:pt>
    <dgm:pt modelId="{FA255A3B-EAFB-47CD-B1A4-CFA3A4A84AA3}" type="pres">
      <dgm:prSet presAssocID="{FBCD238E-1341-4737-8EBD-2140BC8463C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F3C9BE6-B253-4AB6-B859-3A2878864AF1}" type="pres">
      <dgm:prSet presAssocID="{92D09C5D-2AD6-477B-8402-6F24C7BD2DDA}" presName="spacer" presStyleCnt="0"/>
      <dgm:spPr/>
    </dgm:pt>
    <dgm:pt modelId="{58139DFF-A863-4670-946E-0E41610AC366}" type="pres">
      <dgm:prSet presAssocID="{B1C658FD-DB42-40F8-BFEB-01CC991C85C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8EB2125-DCB5-4C11-A76E-51C77090F993}" type="pres">
      <dgm:prSet presAssocID="{13956B93-7AEC-4D00-B02D-703BAD69D41C}" presName="spacer" presStyleCnt="0"/>
      <dgm:spPr/>
    </dgm:pt>
    <dgm:pt modelId="{A63C8720-D7EB-4E41-9E33-ED37FF7F186D}" type="pres">
      <dgm:prSet presAssocID="{69EC793C-7348-48CF-878B-2BC9F167B7D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F2A94D5-CA06-425C-9B3E-7F44873AEFF6}" type="pres">
      <dgm:prSet presAssocID="{8B8B6FBE-9049-4F38-94DC-E11F83471F74}" presName="spacer" presStyleCnt="0"/>
      <dgm:spPr/>
    </dgm:pt>
    <dgm:pt modelId="{45A63C84-06DB-4F5D-998A-F0E79C9B99E5}" type="pres">
      <dgm:prSet presAssocID="{BF20ABA4-9234-4EE2-999D-356343974AF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47ADBCD-F31B-4F17-81F0-B1ABF6A74929}" type="pres">
      <dgm:prSet presAssocID="{84A7021B-C0EB-4083-946D-80F88E76D120}" presName="spacer" presStyleCnt="0"/>
      <dgm:spPr/>
    </dgm:pt>
    <dgm:pt modelId="{85FA2581-1DD0-48DC-AA26-CAE3E661E320}" type="pres">
      <dgm:prSet presAssocID="{EE44D405-56F9-46FE-ABCD-E02ABFB8D11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156FDF7-C649-4A94-AA26-1C1079202D53}" type="pres">
      <dgm:prSet presAssocID="{DCDF3B40-ABD7-40D1-9CCA-D0DB041A4134}" presName="spacer" presStyleCnt="0"/>
      <dgm:spPr/>
    </dgm:pt>
    <dgm:pt modelId="{84C57F19-A741-4C08-8B47-B029B9AFF176}" type="pres">
      <dgm:prSet presAssocID="{264E330B-34C9-4C6B-B8FC-750B75C5319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DB93914-8C95-4BF2-B98C-167D7A7316D4}" srcId="{2FFC1AA7-ABC0-460C-936F-1AA9DE03BF2F}" destId="{EE44D405-56F9-46FE-ABCD-E02ABFB8D110}" srcOrd="4" destOrd="0" parTransId="{92C563F8-A5F2-442B-B13E-002579BBA3AB}" sibTransId="{DCDF3B40-ABD7-40D1-9CCA-D0DB041A4134}"/>
    <dgm:cxn modelId="{E448E921-463E-4A74-833E-60901FA75B78}" type="presOf" srcId="{BF20ABA4-9234-4EE2-999D-356343974AFC}" destId="{45A63C84-06DB-4F5D-998A-F0E79C9B99E5}" srcOrd="0" destOrd="0" presId="urn:microsoft.com/office/officeart/2005/8/layout/vList2"/>
    <dgm:cxn modelId="{67492F23-EBE3-49C0-AB4B-7600D65E04D5}" srcId="{2FFC1AA7-ABC0-460C-936F-1AA9DE03BF2F}" destId="{FBCD238E-1341-4737-8EBD-2140BC8463C0}" srcOrd="0" destOrd="0" parTransId="{E15B20CE-FA15-4D00-9145-B89C8097CDB0}" sibTransId="{92D09C5D-2AD6-477B-8402-6F24C7BD2DDA}"/>
    <dgm:cxn modelId="{CA0B275D-0678-4F4E-A8FB-DA9831F7AB2B}" type="presOf" srcId="{B1C658FD-DB42-40F8-BFEB-01CC991C85C8}" destId="{58139DFF-A863-4670-946E-0E41610AC366}" srcOrd="0" destOrd="0" presId="urn:microsoft.com/office/officeart/2005/8/layout/vList2"/>
    <dgm:cxn modelId="{6025B355-4BD0-42AC-8CD3-719ABD211962}" type="presOf" srcId="{EE44D405-56F9-46FE-ABCD-E02ABFB8D110}" destId="{85FA2581-1DD0-48DC-AA26-CAE3E661E320}" srcOrd="0" destOrd="0" presId="urn:microsoft.com/office/officeart/2005/8/layout/vList2"/>
    <dgm:cxn modelId="{D9721981-A04F-4971-9FAD-FB39683BE478}" type="presOf" srcId="{2FFC1AA7-ABC0-460C-936F-1AA9DE03BF2F}" destId="{688F0B61-04B8-4103-A8DF-963BA8A05091}" srcOrd="0" destOrd="0" presId="urn:microsoft.com/office/officeart/2005/8/layout/vList2"/>
    <dgm:cxn modelId="{A1C46181-5801-4F2B-96E4-DEF1A6DB6825}" srcId="{2FFC1AA7-ABC0-460C-936F-1AA9DE03BF2F}" destId="{69EC793C-7348-48CF-878B-2BC9F167B7DE}" srcOrd="2" destOrd="0" parTransId="{342EAA79-894E-4C0A-8C84-3FD3D821D7BF}" sibTransId="{8B8B6FBE-9049-4F38-94DC-E11F83471F74}"/>
    <dgm:cxn modelId="{60833E86-A436-4B37-926E-ECB5169CC7DD}" srcId="{2FFC1AA7-ABC0-460C-936F-1AA9DE03BF2F}" destId="{B1C658FD-DB42-40F8-BFEB-01CC991C85C8}" srcOrd="1" destOrd="0" parTransId="{6A556CBB-7DA7-4FF3-AAA1-E283010E0C75}" sibTransId="{13956B93-7AEC-4D00-B02D-703BAD69D41C}"/>
    <dgm:cxn modelId="{76427C91-7778-42AB-AB20-E6397C63788A}" type="presOf" srcId="{264E330B-34C9-4C6B-B8FC-750B75C53190}" destId="{84C57F19-A741-4C08-8B47-B029B9AFF176}" srcOrd="0" destOrd="0" presId="urn:microsoft.com/office/officeart/2005/8/layout/vList2"/>
    <dgm:cxn modelId="{247369AC-A850-4B21-824D-C09A7C419BC6}" type="presOf" srcId="{69EC793C-7348-48CF-878B-2BC9F167B7DE}" destId="{A63C8720-D7EB-4E41-9E33-ED37FF7F186D}" srcOrd="0" destOrd="0" presId="urn:microsoft.com/office/officeart/2005/8/layout/vList2"/>
    <dgm:cxn modelId="{5284EABC-7A4B-4A56-9070-76FC856EEA87}" srcId="{2FFC1AA7-ABC0-460C-936F-1AA9DE03BF2F}" destId="{BF20ABA4-9234-4EE2-999D-356343974AFC}" srcOrd="3" destOrd="0" parTransId="{CE70899B-1041-4C5C-932F-D0B8575C7F0A}" sibTransId="{84A7021B-C0EB-4083-946D-80F88E76D120}"/>
    <dgm:cxn modelId="{B54A42C6-0E94-493B-A8C6-CE13FCB7AC85}" srcId="{2FFC1AA7-ABC0-460C-936F-1AA9DE03BF2F}" destId="{264E330B-34C9-4C6B-B8FC-750B75C53190}" srcOrd="5" destOrd="0" parTransId="{5CF447DD-32BF-42B5-B55C-17BAA4CC457B}" sibTransId="{2959BF76-640F-4C22-AFFB-8345A1CB5421}"/>
    <dgm:cxn modelId="{3B17C0D1-21BB-4D0B-B905-2A3AB9905B30}" type="presOf" srcId="{FBCD238E-1341-4737-8EBD-2140BC8463C0}" destId="{FA255A3B-EAFB-47CD-B1A4-CFA3A4A84AA3}" srcOrd="0" destOrd="0" presId="urn:microsoft.com/office/officeart/2005/8/layout/vList2"/>
    <dgm:cxn modelId="{BF3305DC-E609-48A7-9598-0A01845F0518}" type="presParOf" srcId="{688F0B61-04B8-4103-A8DF-963BA8A05091}" destId="{FA255A3B-EAFB-47CD-B1A4-CFA3A4A84AA3}" srcOrd="0" destOrd="0" presId="urn:microsoft.com/office/officeart/2005/8/layout/vList2"/>
    <dgm:cxn modelId="{526216F0-8C05-45E0-A5BC-6D41DA6672EF}" type="presParOf" srcId="{688F0B61-04B8-4103-A8DF-963BA8A05091}" destId="{1F3C9BE6-B253-4AB6-B859-3A2878864AF1}" srcOrd="1" destOrd="0" presId="urn:microsoft.com/office/officeart/2005/8/layout/vList2"/>
    <dgm:cxn modelId="{E3E85D75-9B0F-41AA-B776-C3C34F7C96D7}" type="presParOf" srcId="{688F0B61-04B8-4103-A8DF-963BA8A05091}" destId="{58139DFF-A863-4670-946E-0E41610AC366}" srcOrd="2" destOrd="0" presId="urn:microsoft.com/office/officeart/2005/8/layout/vList2"/>
    <dgm:cxn modelId="{01E36451-B9E9-4800-9FAA-C7F9A1CE38DF}" type="presParOf" srcId="{688F0B61-04B8-4103-A8DF-963BA8A05091}" destId="{E8EB2125-DCB5-4C11-A76E-51C77090F993}" srcOrd="3" destOrd="0" presId="urn:microsoft.com/office/officeart/2005/8/layout/vList2"/>
    <dgm:cxn modelId="{2FD60082-6AC5-4FB4-B7DE-1ABFCCF656BE}" type="presParOf" srcId="{688F0B61-04B8-4103-A8DF-963BA8A05091}" destId="{A63C8720-D7EB-4E41-9E33-ED37FF7F186D}" srcOrd="4" destOrd="0" presId="urn:microsoft.com/office/officeart/2005/8/layout/vList2"/>
    <dgm:cxn modelId="{C7FDB999-1279-4085-A89C-85193B2A4CBF}" type="presParOf" srcId="{688F0B61-04B8-4103-A8DF-963BA8A05091}" destId="{8F2A94D5-CA06-425C-9B3E-7F44873AEFF6}" srcOrd="5" destOrd="0" presId="urn:microsoft.com/office/officeart/2005/8/layout/vList2"/>
    <dgm:cxn modelId="{C8FD2990-AB91-4873-8275-63FD852C151B}" type="presParOf" srcId="{688F0B61-04B8-4103-A8DF-963BA8A05091}" destId="{45A63C84-06DB-4F5D-998A-F0E79C9B99E5}" srcOrd="6" destOrd="0" presId="urn:microsoft.com/office/officeart/2005/8/layout/vList2"/>
    <dgm:cxn modelId="{47ABF72C-2D3A-416F-B9AE-116A3996D4F3}" type="presParOf" srcId="{688F0B61-04B8-4103-A8DF-963BA8A05091}" destId="{347ADBCD-F31B-4F17-81F0-B1ABF6A74929}" srcOrd="7" destOrd="0" presId="urn:microsoft.com/office/officeart/2005/8/layout/vList2"/>
    <dgm:cxn modelId="{35AD5E86-FF55-49C5-B2CB-71CF0DEDEC93}" type="presParOf" srcId="{688F0B61-04B8-4103-A8DF-963BA8A05091}" destId="{85FA2581-1DD0-48DC-AA26-CAE3E661E320}" srcOrd="8" destOrd="0" presId="urn:microsoft.com/office/officeart/2005/8/layout/vList2"/>
    <dgm:cxn modelId="{59079375-FA16-4A03-82BE-02642E17264E}" type="presParOf" srcId="{688F0B61-04B8-4103-A8DF-963BA8A05091}" destId="{0156FDF7-C649-4A94-AA26-1C1079202D53}" srcOrd="9" destOrd="0" presId="urn:microsoft.com/office/officeart/2005/8/layout/vList2"/>
    <dgm:cxn modelId="{9349A90E-8C42-4238-B829-254FE0EFC6B1}" type="presParOf" srcId="{688F0B61-04B8-4103-A8DF-963BA8A05091}" destId="{84C57F19-A741-4C08-8B47-B029B9AFF17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C2C0C-F0CE-4F78-B766-E6014F45FA60}">
      <dsp:nvSpPr>
        <dsp:cNvPr id="0" name=""/>
        <dsp:cNvSpPr/>
      </dsp:nvSpPr>
      <dsp:spPr>
        <a:xfrm>
          <a:off x="0" y="549727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D742D-EA88-4809-BA52-4B5115514729}">
      <dsp:nvSpPr>
        <dsp:cNvPr id="0" name=""/>
        <dsp:cNvSpPr/>
      </dsp:nvSpPr>
      <dsp:spPr>
        <a:xfrm>
          <a:off x="0" y="549727"/>
          <a:ext cx="6492875" cy="2220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PYTHON</a:t>
          </a:r>
          <a:r>
            <a:rPr lang="en-US" sz="4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POWERED:</a:t>
          </a:r>
        </a:p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CREDIT CARD FRAUD </a:t>
          </a:r>
        </a:p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DETECTION</a:t>
          </a:r>
        </a:p>
      </dsp:txBody>
      <dsp:txXfrm>
        <a:off x="0" y="549727"/>
        <a:ext cx="6492875" cy="22205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55A3B-EAFB-47CD-B1A4-CFA3A4A84AA3}">
      <dsp:nvSpPr>
        <dsp:cNvPr id="0" name=""/>
        <dsp:cNvSpPr/>
      </dsp:nvSpPr>
      <dsp:spPr>
        <a:xfrm>
          <a:off x="0" y="709207"/>
          <a:ext cx="11277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TEAM MEMBER 1 NAME : PRIYESH SINGH                                       COLLAGE ID : E23CSEU0050</a:t>
          </a:r>
        </a:p>
      </dsp:txBody>
      <dsp:txXfrm>
        <a:off x="17563" y="726770"/>
        <a:ext cx="11242474" cy="324648"/>
      </dsp:txXfrm>
    </dsp:sp>
    <dsp:sp modelId="{58139DFF-A863-4670-946E-0E41610AC366}">
      <dsp:nvSpPr>
        <dsp:cNvPr id="0" name=""/>
        <dsp:cNvSpPr/>
      </dsp:nvSpPr>
      <dsp:spPr>
        <a:xfrm>
          <a:off x="0" y="1112182"/>
          <a:ext cx="11277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BRANCH : B-TECH CSE.                                                    WORK DISTRIBUTION : MAJOR CODING AND PPT DESIGNING </a:t>
          </a:r>
        </a:p>
      </dsp:txBody>
      <dsp:txXfrm>
        <a:off x="17563" y="1129745"/>
        <a:ext cx="11242474" cy="324648"/>
      </dsp:txXfrm>
    </dsp:sp>
    <dsp:sp modelId="{A63C8720-D7EB-4E41-9E33-ED37FF7F186D}">
      <dsp:nvSpPr>
        <dsp:cNvPr id="0" name=""/>
        <dsp:cNvSpPr/>
      </dsp:nvSpPr>
      <dsp:spPr>
        <a:xfrm>
          <a:off x="0" y="1515157"/>
          <a:ext cx="11277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TEAM MEMBER 2 NAME : HARSH VARDHAN CHAUHAN                COLLAGE ID : E23CSEU0041 </a:t>
          </a:r>
        </a:p>
      </dsp:txBody>
      <dsp:txXfrm>
        <a:off x="17563" y="1532720"/>
        <a:ext cx="11242474" cy="324648"/>
      </dsp:txXfrm>
    </dsp:sp>
    <dsp:sp modelId="{45A63C84-06DB-4F5D-998A-F0E79C9B99E5}">
      <dsp:nvSpPr>
        <dsp:cNvPr id="0" name=""/>
        <dsp:cNvSpPr/>
      </dsp:nvSpPr>
      <dsp:spPr>
        <a:xfrm>
          <a:off x="0" y="1918132"/>
          <a:ext cx="11277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BRANCH : B-TECH CSE.                                                     WORK DISTRIBUTION :  PPT CREATION  AND SUBSET OF CODING</a:t>
          </a:r>
        </a:p>
      </dsp:txBody>
      <dsp:txXfrm>
        <a:off x="17563" y="1935695"/>
        <a:ext cx="11242474" cy="324648"/>
      </dsp:txXfrm>
    </dsp:sp>
    <dsp:sp modelId="{85FA2581-1DD0-48DC-AA26-CAE3E661E320}">
      <dsp:nvSpPr>
        <dsp:cNvPr id="0" name=""/>
        <dsp:cNvSpPr/>
      </dsp:nvSpPr>
      <dsp:spPr>
        <a:xfrm>
          <a:off x="0" y="2321107"/>
          <a:ext cx="11277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TEAM MEMBER 3 NAME : PARMESH GOYAL                                    COLLAGE ID : E23CSEU0042</a:t>
          </a:r>
        </a:p>
      </dsp:txBody>
      <dsp:txXfrm>
        <a:off x="17563" y="2338670"/>
        <a:ext cx="11242474" cy="324648"/>
      </dsp:txXfrm>
    </dsp:sp>
    <dsp:sp modelId="{84C57F19-A741-4C08-8B47-B029B9AFF176}">
      <dsp:nvSpPr>
        <dsp:cNvPr id="0" name=""/>
        <dsp:cNvSpPr/>
      </dsp:nvSpPr>
      <dsp:spPr>
        <a:xfrm>
          <a:off x="0" y="2724082"/>
          <a:ext cx="11277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BRANCH : B-TECH CSE.                                                      WORK DISTRIBUTION : CREATING SUBSETS OF THE  CODING AND FINDING DATASET  </a:t>
          </a:r>
        </a:p>
      </dsp:txBody>
      <dsp:txXfrm>
        <a:off x="17563" y="2741645"/>
        <a:ext cx="11242474" cy="324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7FC23-DC3C-4975-8DCB-2795A0CB1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C2EBD-6428-424A-AB09-E84900631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90710-2C21-4F7B-AC75-1310A1F39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72BF9-398B-4ADF-A330-8F296D65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5BE17-7F3D-4DF2-AD0A-64524792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00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64D6-AF50-48C2-AB24-C411B58B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44B5-7B2D-482E-B6ED-EE8E61C0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8E04E-5EB0-4DA0-9AA3-948A4D3D9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640F3-0D3A-4AC4-A743-D54F6E46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91DBE-20E1-488B-B5AD-EE53CD42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111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0DB7-59E7-421B-A237-D9A70DF27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A2C80-D6B8-4453-8A9B-C01A50200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982E6-E9EA-4F35-91A3-04C6097A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76876-FB0F-48BD-B089-A496C574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E17C-7EB8-4F87-81E7-D181921C3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51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87B35-6DA6-4653-9E07-6627AEF0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EC093-FF92-406C-B790-378E285B7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54F64-7E64-4F6D-9355-9E5A3E201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2B062-A67D-4362-9C45-9A97CD635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EF338-F5A9-4E23-B682-3E406F4FA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9FC52-739A-4FD3-8910-FE53BBAF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45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E454-D218-4F4E-A368-FBEE3F97D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EAA9A-5DF3-4183-B564-B6CC0945D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FB04D-B315-459D-BC2F-366794320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9C9F4-EC3B-44AE-9551-1A3C4DEE9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37A7A-B4F8-462D-B14D-274A4CA37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DB300B-411A-4E2B-A48F-F169F392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9ADB9F-F1D7-4263-84D4-C8997C75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07ABD-0D32-4391-9271-D3EB5D6E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52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B8B1-85FD-4B2B-8B0A-C482F674C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80D04-685B-4AD6-9FC7-506AA6F7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655466-2CC6-434A-996E-7D9464B9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7E820-2156-4049-A50E-A2BB7076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06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59D5CB-3008-41B8-B50F-F5F466F7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7AFA4-987E-4FD7-9558-F4015792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D4924-6375-49BA-9A25-D7F70D56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14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0F96-8997-4ED8-95F1-17E6479D3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63FC-B48D-4EF0-8B37-36F6229B8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4628F-6C39-4E33-A915-783C27B0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A0233-603C-497E-894E-6C826F22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8A6E7-3AB1-4B03-9D91-8647EA08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59B93-986F-4A61-887E-8B39AFD1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54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DC66-60A2-4D51-99BA-FE33E882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1DAC0-37D9-4822-9AD8-602341F5B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5FC53-D94B-46F4-B681-D40233A28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78DB6-C05F-4D29-AF1D-E642CE0A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E0BC2-B76C-40C1-97C4-77E4C91A2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FB614-A2B4-4AC3-97D0-666DE9AD6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51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F81E-A5ED-4059-9145-48654E0BC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5B84A-3625-4887-8F36-31EF2C3C3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B3D81-B51D-48BD-82A5-DEA3B3E5E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CECB2-BB94-4675-8371-EDAC0F06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20FEF-D8F6-4F1A-AB87-5B575760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10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78DC66-A94F-4B9C-9D19-70B1DE88A4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80612-68DB-41C2-A42C-F6A0A3F75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5A7F2-4DF9-46B8-ACAC-82E6B005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F5E13-8993-4BCC-A065-A5591B7D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4D39A-E59D-4D88-B7F9-38CA4132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758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C9B8D37-55D8-411D-BAFE-91252650C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49584"/>
            <a:ext cx="12192000" cy="8084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35DF99C-8FB5-48F5-90C6-0C0CA690D195}"/>
              </a:ext>
            </a:extLst>
          </p:cNvPr>
          <p:cNvSpPr/>
          <p:nvPr userDrawn="1"/>
        </p:nvSpPr>
        <p:spPr>
          <a:xfrm>
            <a:off x="0" y="1"/>
            <a:ext cx="12192000" cy="80841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43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7A755E-E234-4AB6-B770-0DB01A573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02AE2-10BA-4962-8F9C-9FF87476C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87E46-BBD2-491D-A435-E5A951E31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4E43A-7563-42F7-A1DD-3F9A93A3C453}" type="datetimeFigureOut">
              <a:rPr lang="en-IN" smtClean="0"/>
              <a:t>09-10-2023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ACAA0-F85E-420D-A81F-3444ADC75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765A6-C49E-4D7A-9668-2809C59C6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A24-71E9-4E5B-9577-D5B8E3E876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01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BE3190F-E39B-47B6-8735-2379B9352A76}"/>
              </a:ext>
            </a:extLst>
          </p:cNvPr>
          <p:cNvSpPr txBox="1"/>
          <p:nvPr/>
        </p:nvSpPr>
        <p:spPr>
          <a:xfrm>
            <a:off x="535020" y="685800"/>
            <a:ext cx="2780271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70251-A8FE-4E9C-8058-EA07F600EC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49584"/>
            <a:ext cx="12192000" cy="808416"/>
          </a:xfrm>
          <a:prstGeom prst="rect">
            <a:avLst/>
          </a:prstGeom>
        </p:spPr>
      </p:pic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74681802-50A8-4E81-99BA-CCC5465706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4146202"/>
              </p:ext>
            </p:extLst>
          </p:nvPr>
        </p:nvGraphicFramePr>
        <p:xfrm>
          <a:off x="5010150" y="1378634"/>
          <a:ext cx="6492875" cy="3319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081E06-9AF3-DBE5-6A6F-BFA16C209B29}"/>
              </a:ext>
            </a:extLst>
          </p:cNvPr>
          <p:cNvCxnSpPr/>
          <p:nvPr/>
        </p:nvCxnSpPr>
        <p:spPr>
          <a:xfrm>
            <a:off x="5117105" y="4363278"/>
            <a:ext cx="638592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64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1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B8BFD-5C1F-445C-8050-CE8F451E95B0}"/>
              </a:ext>
            </a:extLst>
          </p:cNvPr>
          <p:cNvSpPr txBox="1"/>
          <p:nvPr/>
        </p:nvSpPr>
        <p:spPr>
          <a:xfrm>
            <a:off x="838200" y="0"/>
            <a:ext cx="10515599" cy="7302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Idea</a:t>
            </a:r>
            <a:endParaRPr lang="en-US" sz="4600" kern="1200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F4447C-F969-1DB9-462A-A2300971B0D2}"/>
              </a:ext>
            </a:extLst>
          </p:cNvPr>
          <p:cNvSpPr txBox="1"/>
          <p:nvPr/>
        </p:nvSpPr>
        <p:spPr>
          <a:xfrm>
            <a:off x="838200" y="1252330"/>
            <a:ext cx="10820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effectLst/>
                <a:latin typeface="Söhne"/>
              </a:rPr>
              <a:t>Credit card fraud </a:t>
            </a:r>
            <a:r>
              <a:rPr lang="en-US" sz="2400" b="0" i="0" dirty="0">
                <a:effectLst/>
                <a:latin typeface="Söhne"/>
              </a:rPr>
              <a:t>is a significant issue that affects both financial institutions and cardholders. </a:t>
            </a:r>
          </a:p>
          <a:p>
            <a:r>
              <a:rPr lang="en-US" sz="2400" b="0" i="0" dirty="0">
                <a:effectLst/>
                <a:latin typeface="Söhne"/>
              </a:rPr>
              <a:t>The Idea of this project is to develop a robust and efficient credit card fraud detection system using machine learning and data analysis techniques using pythonic approaches. To tackle this </a:t>
            </a:r>
            <a:r>
              <a:rPr lang="en-US" sz="2400" b="1" i="0" dirty="0">
                <a:effectLst/>
                <a:latin typeface="Söhne"/>
              </a:rPr>
              <a:t>P</a:t>
            </a:r>
            <a:r>
              <a:rPr lang="en-US" sz="2400" b="1" dirty="0">
                <a:latin typeface="Söhne"/>
              </a:rPr>
              <a:t>roblem</a:t>
            </a:r>
            <a:r>
              <a:rPr lang="en-US" sz="2400" dirty="0">
                <a:latin typeface="Söhne"/>
              </a:rPr>
              <a:t> </a:t>
            </a:r>
            <a:r>
              <a:rPr lang="en-US" sz="2400" b="0" i="0" dirty="0">
                <a:effectLst/>
                <a:latin typeface="Söhne"/>
              </a:rPr>
              <a:t>we need a system that can abort the transaction if it finds fishy.</a:t>
            </a:r>
            <a:r>
              <a:rPr lang="en-US" sz="2400" b="1" dirty="0">
                <a:latin typeface="Söhne"/>
              </a:rPr>
              <a:t> </a:t>
            </a:r>
            <a:endParaRPr lang="en-US" sz="2400" b="0" i="0" dirty="0">
              <a:effectLst/>
              <a:latin typeface="Söhne"/>
            </a:endParaRPr>
          </a:p>
          <a:p>
            <a:r>
              <a:rPr lang="en-US" sz="2400" b="0" i="0" dirty="0">
                <a:effectLst/>
                <a:latin typeface="Söhne"/>
              </a:rPr>
              <a:t>Our goal is to create a system that can identify fraudulent transactions in real-time, thereby minimizing financial losses and ensuring the security of cardholders' accounts.</a:t>
            </a:r>
          </a:p>
          <a:p>
            <a:r>
              <a:rPr lang="en-US" sz="2400" dirty="0">
                <a:latin typeface="Söhne"/>
              </a:rPr>
              <a:t>As we are moving towards </a:t>
            </a:r>
            <a:r>
              <a:rPr lang="en-US" sz="2400" dirty="0" err="1">
                <a:latin typeface="Söhne"/>
              </a:rPr>
              <a:t>Digitalisation</a:t>
            </a:r>
            <a:r>
              <a:rPr lang="en-US" sz="2400" dirty="0">
                <a:latin typeface="Söhne"/>
              </a:rPr>
              <a:t> we prefer to make transaction using credit card while purchasing any product online but on the other hand </a:t>
            </a:r>
            <a:r>
              <a:rPr lang="en-US" sz="2400" b="1" dirty="0">
                <a:latin typeface="Söhne"/>
              </a:rPr>
              <a:t>Cyber attackers</a:t>
            </a:r>
            <a:r>
              <a:rPr lang="en-US" sz="2400" dirty="0">
                <a:latin typeface="Söhne"/>
              </a:rPr>
              <a:t> misuse this technology.</a:t>
            </a:r>
            <a:endParaRPr lang="en-US" sz="2400" b="0" i="0" dirty="0">
              <a:effectLst/>
              <a:latin typeface="Söhne"/>
            </a:endParaRPr>
          </a:p>
          <a:p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8A31DC-348A-3E72-91A4-53E00F578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08" y="1193656"/>
            <a:ext cx="593581" cy="5935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9C876F-9AA6-86F8-C0B6-A22364FC0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08" y="1953811"/>
            <a:ext cx="593581" cy="5935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6EC8BB-5EE9-3255-D06A-AAB2D7596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70" y="3394139"/>
            <a:ext cx="593581" cy="5935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DBACCE-42CE-A63B-B4CB-FFF7B65B3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07" y="4537676"/>
            <a:ext cx="593581" cy="59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0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B8BFD-5C1F-445C-8050-CE8F451E95B0}"/>
              </a:ext>
            </a:extLst>
          </p:cNvPr>
          <p:cNvSpPr txBox="1"/>
          <p:nvPr/>
        </p:nvSpPr>
        <p:spPr>
          <a:xfrm>
            <a:off x="838200" y="0"/>
            <a:ext cx="10515599" cy="7302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Application Area</a:t>
            </a:r>
            <a:endParaRPr lang="en-US" sz="4600" kern="1200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3BFAB-AC28-A17A-7EB6-4BAACC76FCF9}"/>
              </a:ext>
            </a:extLst>
          </p:cNvPr>
          <p:cNvSpPr txBox="1"/>
          <p:nvPr/>
        </p:nvSpPr>
        <p:spPr>
          <a:xfrm>
            <a:off x="964275" y="1138845"/>
            <a:ext cx="109062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PAYMENT PROCESSES </a:t>
            </a:r>
            <a:r>
              <a:rPr lang="en-IN" sz="2000" dirty="0"/>
              <a:t>: Payment gateway providers and processors employ fraud detection to ensure  secure transactions. </a:t>
            </a:r>
          </a:p>
          <a:p>
            <a:r>
              <a:rPr lang="en-IN" sz="2000" b="1" dirty="0"/>
              <a:t>MOBILE APP’S </a:t>
            </a:r>
            <a:r>
              <a:rPr lang="en-IN" sz="2000" dirty="0"/>
              <a:t>:  Mobile payment apps and in-app purchases also require fraud detection prevent unauthorised transactions.</a:t>
            </a:r>
          </a:p>
          <a:p>
            <a:r>
              <a:rPr lang="en-IN" sz="2000" b="1" dirty="0"/>
              <a:t>E-COMMERCE</a:t>
            </a:r>
            <a:r>
              <a:rPr lang="en-IN" sz="2000" dirty="0"/>
              <a:t> : Online retailers use fraud detection to prevent fraudulent purchases and protect both customers and their own revenue .</a:t>
            </a:r>
          </a:p>
          <a:p>
            <a:r>
              <a:rPr lang="en-IN" sz="2000" b="1" dirty="0"/>
              <a:t>FINANCIAL INSTITUTIONS </a:t>
            </a:r>
            <a:r>
              <a:rPr lang="en-IN" sz="2000" dirty="0"/>
              <a:t>: Banks and credit card companies use fraud detection systems to protect their customers from unauthorized transaction.</a:t>
            </a:r>
          </a:p>
          <a:p>
            <a:r>
              <a:rPr lang="en-IN" sz="2000" b="1" dirty="0"/>
              <a:t>HEALTHCARE</a:t>
            </a:r>
            <a:r>
              <a:rPr lang="en-IN" sz="2000" dirty="0"/>
              <a:t> : Fraud detection is used to prevent medical identity</a:t>
            </a:r>
          </a:p>
          <a:p>
            <a:r>
              <a:rPr lang="en-IN" sz="2000" dirty="0"/>
              <a:t>theft and insurance fraud </a:t>
            </a:r>
          </a:p>
          <a:p>
            <a:r>
              <a:rPr lang="en-IN" sz="2000" b="1" dirty="0"/>
              <a:t>TRAVEL AND HOSPITALITY </a:t>
            </a:r>
            <a:r>
              <a:rPr lang="en-IN" sz="2000" dirty="0"/>
              <a:t>: The travel industry uses fraud detection </a:t>
            </a:r>
          </a:p>
          <a:p>
            <a:r>
              <a:rPr lang="en-IN" sz="2000" dirty="0"/>
              <a:t>To combat booking fraud , such as unauthorized hotel reservations.</a:t>
            </a:r>
          </a:p>
          <a:p>
            <a:r>
              <a:rPr lang="en-IN" sz="2000" b="1" dirty="0"/>
              <a:t>ANY ONLINE TRANSACTION </a:t>
            </a:r>
            <a:r>
              <a:rPr lang="en-IN" sz="2000" dirty="0"/>
              <a:t>: Virtually any online service or</a:t>
            </a:r>
          </a:p>
          <a:p>
            <a:r>
              <a:rPr lang="en-IN" sz="2000" dirty="0"/>
              <a:t>Business that accepts payments via credit cards can benefit from </a:t>
            </a:r>
          </a:p>
          <a:p>
            <a:r>
              <a:rPr lang="en-IN" sz="2000" dirty="0"/>
              <a:t>Fraud detection to safeguard their customers and revenues . </a:t>
            </a:r>
          </a:p>
          <a:p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B2DF81-EE17-939F-2B04-4B7D256E6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6" y="1079098"/>
            <a:ext cx="546629" cy="5466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B08903-A27A-C002-23C4-DF8FE6323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6" y="1685474"/>
            <a:ext cx="546629" cy="546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03686B-1FE5-4C51-83E6-511C588E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6" y="2291850"/>
            <a:ext cx="546629" cy="5466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77F599-9D2D-B00F-01B4-1C8AFF27D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6" y="2912244"/>
            <a:ext cx="546629" cy="5466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65372A-1FFE-74EF-3C18-74BE5278A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066" y="3268133"/>
            <a:ext cx="3724275" cy="26923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532CD3-F67E-73B6-390E-4A6E81CFB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5" y="3499847"/>
            <a:ext cx="546629" cy="5466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67CB69F-1306-5618-B823-38545801C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4" y="4106223"/>
            <a:ext cx="546629" cy="5466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C57EE39-D59A-464B-1DFC-277D3CF64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44" y="4767591"/>
            <a:ext cx="546629" cy="54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1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B8BFD-5C1F-445C-8050-CE8F451E95B0}"/>
              </a:ext>
            </a:extLst>
          </p:cNvPr>
          <p:cNvSpPr txBox="1"/>
          <p:nvPr/>
        </p:nvSpPr>
        <p:spPr>
          <a:xfrm>
            <a:off x="838200" y="0"/>
            <a:ext cx="10515599" cy="7302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Team Details and Work Distribution</a:t>
            </a:r>
            <a:endParaRPr lang="en-US" sz="4600" kern="1200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46BC660-26F2-7BFA-0042-2E7DD2BE9C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71115"/>
              </p:ext>
            </p:extLst>
          </p:nvPr>
        </p:nvGraphicFramePr>
        <p:xfrm>
          <a:off x="474133" y="1549401"/>
          <a:ext cx="11277600" cy="3793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635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4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6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4B553-F1F3-4FD8-99F1-5CCF27599298}"/>
              </a:ext>
            </a:extLst>
          </p:cNvPr>
          <p:cNvSpPr txBox="1"/>
          <p:nvPr/>
        </p:nvSpPr>
        <p:spPr>
          <a:xfrm>
            <a:off x="775470" y="3901807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589619DA-444D-4F21-A4E9-4FCBF4607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6990" y="320231"/>
            <a:ext cx="2836567" cy="283656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505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5718</TotalTime>
  <Words>350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Söhne</vt:lpstr>
      <vt:lpstr>Times New Roman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</dc:creator>
  <cp:lastModifiedBy>PRIYESH  SINGH</cp:lastModifiedBy>
  <cp:revision>7</cp:revision>
  <dcterms:created xsi:type="dcterms:W3CDTF">2021-11-05T13:18:52Z</dcterms:created>
  <dcterms:modified xsi:type="dcterms:W3CDTF">2023-10-09T10:21:01Z</dcterms:modified>
</cp:coreProperties>
</file>